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Bugün, bankacılığın imgeye; imgenin de kalıcı bir şehir kimliğine nasıl dönüştüğünü konuşacağız.</a:t>
            </a:r>
          </a:p>
          <a:p>
            <a:pPr algn="l"/>
            <a:r>
              <a:rPr sz="1400">
                <a:latin typeface="Arial"/>
              </a:rPr>
              <a:t>Kahramanımız Medici Ailesi; sahnemiz 15. yy Floransa’sı. Ana fikir: Sermaye görünür yatırıma dönüşürse sanat olur; sanat şehrin hafızasına kazınırsa kimlik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Floransa, cumhuriyet kurumları ve itibar rekabetiyle dinamikti. Loncalar yalnız üretimi değil, kamusal projeleri ve yarışmaları da yönetiyordu. Akdeniz’den Kuzey Avrupa’ya sermaye ve bilgi akışı kente yöneldi; finansal inovasyon kök saldı.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Disiplinli defter tutma, temkinli risk ve temsilcilikler Medici’yi Avrupa finansının omurgasına yerleştirdi. Banka, yalnız finansman değil, şehir için stratejik bir araçtı.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Sanat, gücün en kalıcı dili. Medici, saray–şapel–şenlik gibi araçlarla adı kentsel hafızaya kazıdı; hami yalnız para veren değil, zevki ve ideali şekillendiren aktör oldu.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Medici çevresi, yeteneği erken yakalayıp doğru bağlamla buluşturdu. Sipariş ve fikir akışı hızlandı; mitoloji ve neoplatonizmle bezenmiş bir dil doğdu.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Lorenzo’nun himayesi, Michelangelo’nun formunu erken dönemde şekillendirdi. Yeni Sakristi’deki alegoriler aile anıtının ötesinde bir düşünce metnidir.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Brunelleschi, çift kabuk ve balıkkılçığı örgü ile kuvvetleri yönetti; özgün makinelerle lojistiği çözdü. Teknik yenilik, kültürel güven olmadan yeşermez; bu iklimi Medici etkisi kurdu.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Sermaye güven ve ağlarla büyür; görünür yatırıma dönünce sanat olur; sanat hafızaya kazınınca kimlik üretir. Bugünün kurumları için soru: Hangi yatırımınız kamusal hafızada kalıcı?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400">
                <a:latin typeface="Arial"/>
              </a:rPr>
              <a:t>Özet: Medici modeli üç adımda. İsterseniz kubbe tekniğinin kısa bir şemasıyla başlayabiliriz.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latin typeface="Arial"/>
              </a:rPr>
              <a:t>Medici Ailesi — Bankadan Şehre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latin typeface="Arial"/>
              </a:rPr>
              <a:t>Finans, Sanat ve Kubbe — 8 Dakikalık Sunum</a:t>
            </a:r>
          </a:p>
          <a:p>
            <a:r>
              <a:rPr sz="2200">
                <a:latin typeface="Arial"/>
              </a:rPr>
              <a:t>Finans → Sanat → Şehir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Floransa’da Zemin: İklim ve Kurumlar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Arial"/>
              </a:rPr>
              <a:t>Cumhuriyet Floransa’sı: rekabet ve itibar kültürü</a:t>
            </a:r>
          </a:p>
          <a:p>
            <a:pPr algn="l"/>
            <a:r>
              <a:rPr sz="2200">
                <a:latin typeface="Arial"/>
              </a:rPr>
              <a:t>Loncalar (Yün–İpek): standart, yarışma, bütçe</a:t>
            </a:r>
          </a:p>
          <a:p>
            <a:pPr algn="l"/>
            <a:r>
              <a:rPr sz="2200">
                <a:latin typeface="Arial"/>
              </a:rPr>
              <a:t>Ticaret ağları: Akdeniz ⟷ Kuzey Avrupa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Medici Bankası: Güvenin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Arial"/>
              </a:rPr>
              <a:t>1397: Giovanni di Bicci — ölçeklenebilir model</a:t>
            </a:r>
          </a:p>
          <a:p>
            <a:pPr algn="l"/>
            <a:r>
              <a:rPr sz="2200">
                <a:latin typeface="Arial"/>
              </a:rPr>
              <a:t>Papalık bankacılığı: yüksek güven, görünürlük</a:t>
            </a:r>
          </a:p>
          <a:p>
            <a:pPr algn="l"/>
            <a:r>
              <a:rPr sz="2200">
                <a:latin typeface="Arial"/>
              </a:rPr>
              <a:t>Şube ağı: Roma–Venedik–Londra–Brugge</a:t>
            </a:r>
          </a:p>
          <a:p>
            <a:pPr algn="l"/>
            <a:r>
              <a:rPr sz="2200">
                <a:latin typeface="Arial"/>
              </a:rPr>
              <a:t>Formül: Güven + Ağ = Ölçek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Neden Sanat? Meşruiyet, Propaganda, Hafıza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Arial"/>
              </a:rPr>
              <a:t>Görünür iyilik: özel servetten kamusal fayda</a:t>
            </a:r>
          </a:p>
          <a:p>
            <a:pPr algn="l"/>
            <a:r>
              <a:rPr sz="2200">
                <a:latin typeface="Arial"/>
              </a:rPr>
              <a:t>Kamusal–özel sınırını bulanıklaştırma</a:t>
            </a:r>
          </a:p>
          <a:p>
            <a:pPr algn="l"/>
            <a:r>
              <a:rPr sz="2200">
                <a:latin typeface="Arial"/>
              </a:rPr>
              <a:t>Kent markası: “Medici” = Floransa imgesi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Yaratıcı Ekosistem: Atölyeler ve Ağlar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Arial"/>
              </a:rPr>
              <a:t>Botticelli: Primavera, Venüs’ün Doğuşu</a:t>
            </a:r>
          </a:p>
          <a:p>
            <a:pPr algn="l"/>
            <a:r>
              <a:rPr sz="2200">
                <a:latin typeface="Arial"/>
              </a:rPr>
              <a:t>Verrocchio/Ghirlandaio: usta-çırak-sipariş ağı</a:t>
            </a:r>
          </a:p>
          <a:p>
            <a:pPr algn="l"/>
            <a:r>
              <a:rPr sz="2200">
                <a:latin typeface="Arial"/>
              </a:rPr>
              <a:t>Leonardo: Floransa yılları ve etkileşim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Michelangelo: Lorenzo’nun Bahçesinden Şapele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Arial"/>
              </a:rPr>
              <a:t>Lorenzo il Magnifico: heykel bahçesi, erken himaye</a:t>
            </a:r>
          </a:p>
          <a:p>
            <a:pPr algn="l"/>
            <a:r>
              <a:rPr sz="2200">
                <a:latin typeface="Arial"/>
              </a:rPr>
              <a:t>Medici Şapeli (Yeni Sakristi): Gece–Gündüz</a:t>
            </a:r>
          </a:p>
          <a:p>
            <a:pPr algn="l"/>
            <a:r>
              <a:rPr sz="2200">
                <a:latin typeface="Arial"/>
              </a:rPr>
              <a:t>Mesaj: Zaman, güç, fanilik — mermerde felsefe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Duomo Kubbesi: “İmkânsız”ın Mühendisliği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Arial"/>
              </a:rPr>
              <a:t>Sorun: Dev açıklık, merkezleme iskelesi yok</a:t>
            </a:r>
          </a:p>
          <a:p>
            <a:pPr algn="l"/>
            <a:r>
              <a:rPr sz="2200">
                <a:latin typeface="Arial"/>
              </a:rPr>
              <a:t>Brunelleschi: çift kabuk, balıkkılçığı tuğla örgüsü</a:t>
            </a:r>
          </a:p>
          <a:p>
            <a:pPr algn="l"/>
            <a:r>
              <a:rPr sz="2200">
                <a:latin typeface="Arial"/>
              </a:rPr>
              <a:t>Özgün makineler: vinç/dişli/halat sistemleri</a:t>
            </a:r>
          </a:p>
          <a:p>
            <a:pPr algn="l"/>
            <a:r>
              <a:rPr sz="2200">
                <a:latin typeface="Arial"/>
              </a:rPr>
              <a:t>Cesaretin ödüllendirilmesi: lonca + şehir iklimi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Modelin Formülü: Bankadan Şehre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Arial"/>
              </a:rPr>
              <a:t>Sermaye → Patronaj → Kentsel miras</a:t>
            </a:r>
          </a:p>
          <a:p>
            <a:pPr algn="l"/>
            <a:r>
              <a:rPr sz="2200">
                <a:latin typeface="Arial"/>
              </a:rPr>
              <a:t>“Görünür yatırım” kalıcılık üretir</a:t>
            </a:r>
          </a:p>
          <a:p>
            <a:pPr algn="l"/>
            <a:r>
              <a:rPr sz="2200">
                <a:latin typeface="Arial"/>
              </a:rPr>
              <a:t>Ders: güven, ağ, vizyon, imge birlikteliği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Arial"/>
              </a:rPr>
              <a:t>Kapanış ve Soru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200">
                <a:latin typeface="Arial"/>
              </a:rPr>
              <a:t>“Kaynağı büyüt, imgeye çevir, şehre kazı.”</a:t>
            </a:r>
          </a:p>
          <a:p>
            <a:pPr algn="l"/>
            <a:r>
              <a:rPr sz="2200">
                <a:latin typeface="Arial"/>
              </a:rPr>
              <a:t>Teşekkürler — Sorular?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