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sizi, bankacılığın sanata, sanatın da bir şehrin kimliğine nasıl dönüştüğünü anlatan bir hikâyeye götürmek istiyorum. Kahramanlarımız Medici ailesi; sahnemiz, 15. yüzyılın Floransa’sı. Medici’ler, finansal güçlerini yalnızca servet biriktirmek için değil, "görünür iyilik" üretmek ve kalıcı bir şehir markası yaratmak için kullandılar. Bu hikâye, bankadan şehre uzanan bir dönüşüm modeli.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zemin: Floransa, yün ve ipek loncalarıyla Avrupa ticaretinin kilit şehirlerinden biriydi.</a:t>
            </a:r>
          </a:p>
          <a:p>
            <a:r>
              <a:t>Loncalar yalnızca üretimi değil, kamusal işleri, yarışmaları ve standartları da belirleyen kurumlardı.</a:t>
            </a:r>
          </a:p>
          <a:p>
            <a:r>
              <a:t>Akdeniz ticaret ağı şehre sermaye, risk ve bilgi akışı sağladı. Böyle bir ortamda finansal inovasyonlar filizlendi.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1397’de Giovanni di Bicci de’ Medici’nin kurduğu Medici Bankası, kısa sürede Avrupa’nın en nüfuzlu kurumlarından biri oldu.</a:t>
            </a:r>
          </a:p>
          <a:p>
            <a:r>
              <a:t>Güçlerinin sırrı; Roma, Venedik, Londra, Brugge gibi şehirlerdeki şube ağı ve özellikle papalıkla kurdukları yüksek güven ilişkisiydi.</a:t>
            </a:r>
          </a:p>
          <a:p>
            <a:r>
              <a:t>Disiplinli defter tutma, temkinli risk yönetimi ve esnek temsilcilik modeliyle “güven + ağ = ölçek” formülünü işlettiler.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Peki finansal güç neden sanata akar? Çünkü sanat, gücün en görünür, en kalıcı ve en az itiraz gören yüzüdür.</a:t>
            </a:r>
          </a:p>
          <a:p>
            <a:r>
              <a:t>Medici’ler özel zenginliği kamusal iyiliğe tercüme ederek meşruiyet ürettiler.</a:t>
            </a:r>
          </a:p>
          <a:p>
            <a:r>
              <a:t>Saray cepheleri, şenlikler, heykeller, şapeller… Hepsi “Medici adı şehrin hafızasına nasıl kazınır?” sorusunun cevabıydı.</a:t>
            </a:r>
          </a:p>
          <a:p>
            <a:r>
              <a:t>Hami, sadece para veren değil; zevki ve ideali şekillendiren bir aktöre dönüştü.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Medici çevresi, yetenekleri erken fark eden ve doğru çevrelerle buluşturan bir “yaratıcı ekosistem”di.</a:t>
            </a:r>
          </a:p>
          <a:p>
            <a:r>
              <a:t>Botticelli’nin Primavera ve Venüs’ün Doğuşu, Medici çevresinin mitoloji ve neoplatonizmle bezenmiş zevkini yansıtır.</a:t>
            </a:r>
          </a:p>
          <a:p>
            <a:r>
              <a:t>Genç Michelangelo, Lorenzo “il Magnifico”nun sarayındaki heykel bahçesinde antik formu yakından gözledi.</a:t>
            </a:r>
          </a:p>
          <a:p>
            <a:r>
              <a:t>Leonardo’nun Floransa yılları da bu entelektüel iklimle iç içe geçti; siparişlerin ve fikirlerin dolaşımı Medici düğümünde hızlandı.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Lorenzo’nun himayesi, Michelangelo’nun erken biçimlenişinde belirleyiciydi.</a:t>
            </a:r>
          </a:p>
          <a:p>
            <a:r>
              <a:t>Bu ilişki yıllar sonra Medici Şapeli’nde —Yeni Sakristi’de— olgunlaştı.</a:t>
            </a:r>
          </a:p>
          <a:p>
            <a:r>
              <a:t>“Gece” ve “Gündüz”, “Alacakaranlık” ve “Şafak” figürleri, bir aile anıtının ötesinde; zaman, güç ve fanilik üzerine taşta yazılmış bir felsefedir.</a:t>
            </a:r>
          </a:p>
          <a:p>
            <a:r>
              <a:t>Medici adı, Michelangelo’nun mermerinde bir dünya görüşüne dönüşür: Kalıcılık yalnızca taşa değil, fikre de kazınmalıdır.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Şimdi kentin kalbine, Santa Maria del Fiore’nin kubbesine bakalım.</a:t>
            </a:r>
          </a:p>
          <a:p>
            <a:r>
              <a:t>Brunelleschi, merkezleme iskelesi olmadan devasa açıklığı geçmek için çift kabuklu kubbe, balıkkılçığı örgülü tuğla ve özgün kaldırma makineleri tasarladı.</a:t>
            </a:r>
          </a:p>
          <a:p>
            <a:r>
              <a:t>Proje Yüncüler Loncası’nın girişimiydi; ancak Medici’lerin biçimlendirdiği kültürel-ekonomik iklim, böyle bir teknik cesareti ödüllendiren bir şehir düzeni yarattı.</a:t>
            </a:r>
          </a:p>
          <a:p>
            <a:r>
              <a:t>Aynı dönemde Medici’ye yakın San Lorenzo’da yürütülen yapılar, kamusal-özel ekseninde yeni bir mimari dilin yayıldığını gösterir.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Medici hikâyesi, sermayenin imgeye, imgenin şehre dönüşümünün el kitabıdır: Finans → Sanat → Şehir.</a:t>
            </a:r>
          </a:p>
          <a:p>
            <a:r>
              <a:t>Botticelli’nin renklerinde, Michelangelo’nun mermerinde, Brunelleschi’nin kubbesinde aynı formül görünür: güven, ağ, vizyon ve görünür yatırım.</a:t>
            </a:r>
          </a:p>
          <a:p>
            <a:r>
              <a:t>Bugün de şehirler ve markalar için ders açık: Kaynağı büyütmek yetmez; onu kamusal hafızaya dönüştürmek kalıcılığı getirir.</a:t>
            </a:r>
          </a:p>
          <a:p>
            <a:r>
              <a:t>Medici’lerin Floransa’sı bunun kanıtıdır.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Medici Ailesi — Bankadan Şehre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Finans, Sanat ve Kubbe — 8 Dakikalık Sunum</a:t>
            </a:r>
          </a:p>
          <a:p>
            <a:r>
              <a:t>Finans → Sanat → Şehir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Floransa’da Zemin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Loncalar</a:t>
            </a:r>
          </a:p>
          <a:p>
            <a:pPr/>
            <a:r>
              <a:t>Ticaret ağları</a:t>
            </a:r>
          </a:p>
          <a:p>
            <a:pPr/>
            <a:r>
              <a:t>Risk ve sermaye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Medici Bankası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1397</a:t>
            </a:r>
          </a:p>
          <a:p>
            <a:pPr/>
            <a:r>
              <a:t>Papalık ilişkisi</a:t>
            </a:r>
          </a:p>
          <a:p>
            <a:pPr/>
            <a:r>
              <a:t>Şube ağı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Neden Sanat?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Meşruiyet</a:t>
            </a:r>
          </a:p>
          <a:p>
            <a:pPr/>
            <a:r>
              <a:t>Görünür iyilik</a:t>
            </a:r>
          </a:p>
          <a:p>
            <a:pPr/>
            <a:r>
              <a:t>Kamusal hafıza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Himaye Ağı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Botticelli</a:t>
            </a:r>
          </a:p>
          <a:p>
            <a:pPr/>
            <a:r>
              <a:t>Michelangelo</a:t>
            </a:r>
          </a:p>
          <a:p>
            <a:pPr/>
            <a:r>
              <a:t>Leonardo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Michelangelo ve Medici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Lorenzo il Magnifico</a:t>
            </a:r>
          </a:p>
          <a:p>
            <a:pPr/>
            <a:r>
              <a:t>Medici Şapeli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Duomo Kubbesi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Brunelleschi</a:t>
            </a:r>
          </a:p>
          <a:p>
            <a:pPr/>
            <a:r>
              <a:t>Çift kabuk</a:t>
            </a:r>
          </a:p>
          <a:p>
            <a:pPr/>
            <a:r>
              <a:t>Balıkkılçığı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Kapanış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Finans → Sanat → Şehir</a:t>
            </a:r>
          </a:p>
          <a:p>
            <a:pPr/>
            <a:r>
              <a:t>Ders: Görünür yatırım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